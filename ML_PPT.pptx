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43000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44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기계학습 기반 학생 우울증 분류</a:t>
            </a:r>
            <a:endParaRPr sz="44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430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200" dirty="0">
                <a:latin typeface="HY신명조" panose="02030600000101010101" pitchFamily="18" charset="-127"/>
                <a:ea typeface="HY신명조" panose="02030600000101010101" pitchFamily="18" charset="-127"/>
              </a:rPr>
              <a:t>- FN </a:t>
            </a:r>
            <a:r>
              <a:rPr lang="ko-KR" altLang="en-US" sz="2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최소화 및 변수 간 해석 가능한 모델 구축</a:t>
            </a:r>
            <a:endParaRPr sz="2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43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2026-1 Machine Learning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1430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데이터사이언스학과</a:t>
            </a:r>
            <a:r>
              <a:rPr sz="11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  12214214   김민성</a:t>
            </a:r>
            <a:r>
              <a:rPr lang="en-US" sz="11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/ </a:t>
            </a:r>
            <a:r>
              <a:rPr lang="en-US" altLang="ko-KR"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github.com/mynseong02/26ML_TERM_PROJECT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학생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우울증</a:t>
            </a:r>
            <a:r>
              <a:rPr 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분류 문제의 중요성</a:t>
            </a:r>
            <a:endParaRPr sz="32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43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학생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우울증은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학업·사회적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비용이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큰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공중보건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문제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6118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6118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 err="1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학업</a:t>
            </a:r>
            <a:r>
              <a:rPr sz="1600" dirty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중단</a:t>
            </a:r>
            <a:endParaRPr sz="1600" dirty="0">
              <a:solidFill>
                <a:srgbClr val="FF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6118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우울증은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학업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성취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저하와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중도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포기로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이어진다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6118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2194560"/>
            <a:ext cx="36118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 err="1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자살</a:t>
            </a:r>
            <a:r>
              <a:rPr sz="1600" dirty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시도</a:t>
            </a:r>
            <a:endParaRPr sz="1600" dirty="0">
              <a:solidFill>
                <a:srgbClr val="FF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43400" y="2834640"/>
            <a:ext cx="36118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심각한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경우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자살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시도까지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진행될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수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있다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361188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6118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 err="1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조기</a:t>
            </a:r>
            <a:r>
              <a:rPr sz="1600" dirty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발견</a:t>
            </a:r>
            <a:r>
              <a:rPr sz="1600" dirty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가치</a:t>
            </a:r>
            <a:endParaRPr sz="1600" dirty="0">
              <a:solidFill>
                <a:srgbClr val="FF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38160" y="2834640"/>
            <a:ext cx="36118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조기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발견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+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개입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</a:t>
            </a:r>
          </a:p>
          <a:p>
            <a:pPr algn="ctr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부정적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결과를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크게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줄일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수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있다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064240" cy="11887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본 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분석의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목표</a:t>
            </a:r>
            <a:endParaRPr sz="1600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우울증을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가진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학생을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정상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으로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잘못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분류하는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경우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(False Negative)를 </a:t>
            </a:r>
            <a:r>
              <a:rPr sz="1600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최소화한다</a:t>
            </a:r>
            <a:r>
              <a:rPr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sz="1600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ko-KR"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설명 가능한 모형을 구축하</a:t>
            </a:r>
            <a:r>
              <a:rPr lang="ko-KR" altLang="en-US"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여</a:t>
            </a:r>
            <a:r>
              <a:rPr lang="ko-KR" altLang="ko-KR"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우울증 위험군을 조기에 찾아내고 원인을 분석할 수 있는 기반을 마련한다</a:t>
            </a:r>
            <a:r>
              <a:rPr lang="en-US" altLang="ko-KR" sz="1600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sz="1600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Y신명조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인도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학생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27,901명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설문</a:t>
            </a:r>
            <a:endParaRPr sz="32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Kaggle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공개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데이터셋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(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학술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사용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허용</a:t>
            </a:r>
            <a:r>
              <a:rPr lang="en-US"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&amp; </a:t>
            </a:r>
            <a:r>
              <a:rPr lang="ko-KR" altLang="en-US"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적절한 표본과 변수 수 확보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</a:t>
            </a:r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개요</a:t>
            </a:r>
            <a:r>
              <a:rPr 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&amp; </a:t>
            </a:r>
            <a:r>
              <a:rPr lang="ko-KR" alt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탐색적 데이터 분석</a:t>
            </a:r>
            <a:endParaRPr sz="16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93776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표본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27,901명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인도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학생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설문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응답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(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자가보고식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변수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16개</a:t>
            </a:r>
          </a:p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타겟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Depression (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있음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없음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클래스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비율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약 6 :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48640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1206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주요</a:t>
            </a:r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변수</a:t>
            </a:r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(5개 </a:t>
            </a:r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그룹</a:t>
            </a:r>
            <a:r>
              <a:rPr 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&amp; </a:t>
            </a:r>
            <a:r>
              <a:rPr lang="ko-KR" alt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확증적 데이터 분석</a:t>
            </a:r>
            <a:endParaRPr sz="16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120640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정신건강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자살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생각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가족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정신질환력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학업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학업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압박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학점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학업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만족도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생활습관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시간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식습관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경제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재정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스트레스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인구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나이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성별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학위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공부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시간</a:t>
            </a:r>
            <a:endParaRPr lang="en-US"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endParaRPr 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endParaRPr 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lang="ko-KR" alt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상기 데이터셋 규모 수준 기존 연구에서는 지도학습기반 로지스틱</a:t>
            </a:r>
            <a:r>
              <a:rPr lang="en-US" altLang="ko-KR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랜덤포레스트</a:t>
            </a:r>
            <a:r>
              <a:rPr lang="ko-KR" alt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등의 모델을 사용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Y신명조"/>
              </a:rPr>
              <a:t>3 / 9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5B2BE81-DC19-1251-7AB0-BD87EE35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19" y="4007840"/>
            <a:ext cx="2275722" cy="17513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03786F0-AEE9-809D-EB15-85BA194C1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684864"/>
            <a:ext cx="2176524" cy="20875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294FFE29-CBEB-1991-F74C-E8C8F48231A3}"/>
              </a:ext>
            </a:extLst>
          </p:cNvPr>
          <p:cNvSpPr/>
          <p:nvPr/>
        </p:nvSpPr>
        <p:spPr>
          <a:xfrm>
            <a:off x="6217506" y="1862783"/>
            <a:ext cx="530352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적용 모형 요약 및 분석 흐름</a:t>
            </a:r>
            <a:endParaRPr sz="32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43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선형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가정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기반의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전역적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해석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(LR) </a:t>
            </a:r>
            <a:r>
              <a:rPr 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-&gt;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비선형·상호작용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포착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(RF) </a:t>
            </a:r>
            <a:r>
              <a:rPr 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-&gt;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국소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해석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(SHAP)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로지스틱</a:t>
            </a:r>
            <a:r>
              <a:rPr sz="14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회귀</a:t>
            </a:r>
            <a:r>
              <a:rPr sz="14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(Baseline</a:t>
            </a:r>
            <a:r>
              <a:rPr lang="en-US" sz="14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1</a:t>
            </a:r>
            <a:r>
              <a:rPr lang="ko-KR" altLang="en-US" sz="14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차 진단</a:t>
            </a:r>
            <a:r>
              <a:rPr sz="14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dirty="0" err="1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모수적</a:t>
            </a:r>
            <a:r>
              <a:rPr sz="1200" dirty="0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· </a:t>
            </a:r>
            <a:r>
              <a:rPr sz="1200" dirty="0" err="1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전역적</a:t>
            </a:r>
            <a:r>
              <a:rPr sz="1200" dirty="0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해석</a:t>
            </a:r>
            <a:r>
              <a:rPr sz="1200" dirty="0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(parametric · global)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49377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60124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logit(P) = β₀ + Σ βᵢxᵢ   →   OR = exp(βᵢ)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로그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오즈의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선형성·가법성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가정</a:t>
            </a:r>
            <a:endParaRPr sz="1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L2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정규화로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다중공선성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통제</a:t>
            </a:r>
            <a:endParaRPr sz="1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오즈비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(OR)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단일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수치로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영향력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정량화</a:t>
            </a:r>
            <a:endParaRPr sz="1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임상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의사결정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트리에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직접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통합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가능</a:t>
            </a:r>
            <a:endParaRPr sz="1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5349240"/>
            <a:ext cx="49377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5677" y="5507784"/>
            <a:ext cx="490504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10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단점</a:t>
            </a:r>
            <a:r>
              <a:rPr sz="1000" b="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Box-Tidwell </a:t>
            </a:r>
            <a:r>
              <a:rPr sz="1000" b="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검정에서</a:t>
            </a:r>
            <a:r>
              <a:rPr sz="1000" b="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Age,</a:t>
            </a:r>
            <a:r>
              <a:rPr lang="en-US" sz="1000" b="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b="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Academic_Pressure가</a:t>
            </a:r>
            <a:r>
              <a:rPr sz="1000" b="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b="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선형성</a:t>
            </a:r>
            <a:r>
              <a:rPr sz="1000" b="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b="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가정</a:t>
            </a:r>
            <a:r>
              <a:rPr sz="1000" b="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b="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위배</a:t>
            </a:r>
            <a:endParaRPr lang="en-US" sz="1000" b="0" dirty="0">
              <a:solidFill>
                <a:srgbClr val="E74C3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lang="en-US" sz="10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-&gt; </a:t>
            </a:r>
            <a:r>
              <a:rPr lang="ko-KR" altLang="en-US" sz="10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변수간 상호작용 해석 필요</a:t>
            </a:r>
            <a:endParaRPr sz="1000" b="0" dirty="0">
              <a:solidFill>
                <a:srgbClr val="E74C3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88046" y="1961766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err="1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랜덤포레스트</a:t>
            </a:r>
            <a:r>
              <a:rPr sz="1400" dirty="0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+ SHAP</a:t>
            </a:r>
            <a:r>
              <a:rPr lang="en-US" sz="1400" dirty="0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(</a:t>
            </a:r>
            <a:r>
              <a:rPr lang="ko-KR" altLang="en-US" sz="1400" dirty="0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원인 규명</a:t>
            </a:r>
            <a:r>
              <a:rPr lang="en-US" altLang="ko-KR" sz="1400" dirty="0">
                <a:solidFill>
                  <a:srgbClr val="0020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sz="1400" dirty="0">
              <a:solidFill>
                <a:srgbClr val="00206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비모수적</a:t>
            </a:r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· </a:t>
            </a:r>
            <a:r>
              <a:rPr sz="1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비선형</a:t>
            </a:r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+ </a:t>
            </a:r>
            <a:r>
              <a:rPr sz="1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공리적</a:t>
            </a:r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국소</a:t>
            </a:r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해석</a:t>
            </a:r>
            <a:endParaRPr sz="12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0" y="2926080"/>
            <a:ext cx="50292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147544"/>
            <a:ext cx="48463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dirty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f(x) = Σ Treeₖ(x)   |   φᵢ : Shapley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39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결정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트리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앙상블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→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비선형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분할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자동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학습</a:t>
            </a:r>
            <a:endParaRPr sz="1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2240" y="411480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변수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간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상호작용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효과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포착</a:t>
            </a:r>
            <a:endParaRPr sz="1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6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SHAP: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효율성·대칭성·가법성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공리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만족</a:t>
            </a:r>
            <a:endParaRPr sz="1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92240" y="484632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샘플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수준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기여도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→ Gini FI / Perm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편향</a:t>
            </a:r>
            <a:r>
              <a:rPr sz="12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보완</a:t>
            </a:r>
            <a:endParaRPr sz="12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92240" y="5349240"/>
            <a:ext cx="50292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5495204"/>
            <a:ext cx="48463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보완</a:t>
            </a:r>
            <a:r>
              <a:rPr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sz="1000" b="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비선형</a:t>
            </a:r>
            <a:r>
              <a:rPr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b="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효과</a:t>
            </a:r>
            <a:r>
              <a:rPr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· </a:t>
            </a:r>
            <a:r>
              <a:rPr sz="1000" b="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더미</a:t>
            </a:r>
            <a:r>
              <a:rPr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b="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희석</a:t>
            </a:r>
            <a:r>
              <a:rPr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· </a:t>
            </a:r>
            <a:r>
              <a:rPr sz="1000" b="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변수</a:t>
            </a:r>
            <a:r>
              <a:rPr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간</a:t>
            </a:r>
            <a:r>
              <a:rPr lang="en-US"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b="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상호작용</a:t>
            </a:r>
            <a:r>
              <a:rPr lang="en-US"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확보</a:t>
            </a:r>
            <a:endParaRPr lang="en-US" altLang="ko-KR" sz="1000" dirty="0">
              <a:solidFill>
                <a:srgbClr val="27AE6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lang="en-US" sz="100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-&gt; </a:t>
            </a:r>
            <a:r>
              <a:rPr sz="1000" b="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LR</a:t>
            </a:r>
            <a:r>
              <a:rPr lang="ko-KR" altLang="en-US" sz="100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과 상호 보완적으로 분석 목표 달성</a:t>
            </a:r>
            <a:endParaRPr sz="1000" b="0" dirty="0">
              <a:solidFill>
                <a:srgbClr val="27AE6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Y신명조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4446" y="361985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설계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전략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</a:t>
            </a:r>
            <a:r>
              <a:rPr 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Recall (FN </a:t>
            </a:r>
            <a:r>
              <a:rPr lang="ko-KR" alt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감소</a:t>
            </a:r>
            <a:r>
              <a:rPr lang="en-US" altLang="ko-KR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  <a:r>
              <a:rPr lang="ko-KR" alt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위주</a:t>
            </a:r>
            <a:r>
              <a:rPr 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	</a:t>
            </a:r>
            <a:endParaRPr sz="32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5416" y="953390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의심되면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양성</a:t>
            </a:r>
            <a:r>
              <a:rPr 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쪽으로</a:t>
            </a:r>
            <a:r>
              <a:rPr 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진단하는 방향으로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놓치는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환자를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최소화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문제 상황 고려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algn="l"/>
            <a:r>
              <a:rPr 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Precision (FP, </a:t>
            </a:r>
            <a:r>
              <a:rPr lang="ko-KR" alt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우울증이 아닌 사람을 위험군으로 과잉 진단</a:t>
            </a:r>
            <a:r>
              <a:rPr lang="en-US" altLang="ko-KR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성능 </a:t>
            </a:r>
            <a:r>
              <a:rPr lang="ko-KR" alt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유지를 위해 종합점수 </a:t>
            </a:r>
            <a:r>
              <a:rPr lang="en-US" altLang="ko-KR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Fb score (beta = 1.3) </a:t>
            </a:r>
            <a:r>
              <a:rPr lang="ko-KR" altLang="en-US"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고려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2926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Threshold(</a:t>
            </a:r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임계값</a:t>
            </a:r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조정</a:t>
            </a:r>
            <a:r>
              <a:rPr 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후 최종</a:t>
            </a:r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성능 지표</a:t>
            </a:r>
            <a:endParaRPr sz="16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45953" y="265176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설정</a:t>
            </a:r>
            <a:endParaRPr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51527" y="2651760"/>
            <a:ext cx="260604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실제</a:t>
            </a:r>
            <a:r>
              <a:rPr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환자</a:t>
            </a:r>
            <a:r>
              <a:rPr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중</a:t>
            </a:r>
          </a:p>
          <a:p>
            <a:pPr algn="ctr"/>
            <a:r>
              <a:rPr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잡아낸</a:t>
            </a:r>
            <a:r>
              <a:rPr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비율</a:t>
            </a:r>
            <a:r>
              <a:rPr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(Recall)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9007" y="2651760"/>
            <a:ext cx="26060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예측이</a:t>
            </a:r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맞은</a:t>
            </a:r>
            <a:endParaRPr sz="16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/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비율</a:t>
            </a:r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(Precision)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6487" y="2651760"/>
            <a:ext cx="26060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종합</a:t>
            </a:r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점수</a:t>
            </a:r>
            <a:endParaRPr lang="en-US" sz="16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ctr"/>
            <a:r>
              <a:rPr 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(F1.3 score)</a:t>
            </a:r>
            <a:endParaRPr sz="16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45953" y="338328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기본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(0.5)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2477" y="338328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0.850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9007" y="338328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0.882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6487" y="3383280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0.861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145953" y="402336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최적</a:t>
            </a:r>
            <a:r>
              <a:rPr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 (0.274)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527" y="402336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0.939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9007" y="402336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dirty="0">
                <a:solidFill>
                  <a:srgbClr val="555555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0.813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1343" y="4023360"/>
            <a:ext cx="26060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0.888 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11064240" cy="11887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dirty="0" err="1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결과</a:t>
            </a:r>
            <a:endParaRPr sz="1600" dirty="0">
              <a:solidFill>
                <a:srgbClr val="FF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6984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600" b="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실제</a:t>
            </a:r>
            <a:r>
              <a:rPr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우울증</a:t>
            </a:r>
            <a:r>
              <a:rPr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환자</a:t>
            </a:r>
            <a:r>
              <a:rPr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100명 중 94명을 </a:t>
            </a:r>
            <a:r>
              <a:rPr sz="1600" b="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모델이</a:t>
            </a:r>
            <a:r>
              <a:rPr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잡아낸다</a:t>
            </a:r>
            <a:r>
              <a:rPr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(</a:t>
            </a:r>
            <a:r>
              <a:rPr sz="1600" b="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이전</a:t>
            </a:r>
            <a:r>
              <a:rPr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85명)</a:t>
            </a:r>
            <a:endParaRPr lang="en-US" sz="1600" dirty="0">
              <a:solidFill>
                <a:srgbClr val="FFFF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lang="ko-KR" altLang="en-US" sz="1600" b="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랜덤포레스트</a:t>
            </a:r>
            <a:r>
              <a:rPr lang="ko-KR" altLang="en-US"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600" b="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하이퍼파라미터</a:t>
            </a:r>
            <a:r>
              <a:rPr lang="ko-KR" altLang="en-US" sz="1600" b="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튜닝 </a:t>
            </a:r>
            <a:r>
              <a:rPr lang="en-US" altLang="ko-KR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놓친 환자</a:t>
            </a:r>
            <a:r>
              <a:rPr lang="en-US" altLang="ko-KR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(False Negative): 577</a:t>
            </a:r>
            <a:r>
              <a:rPr lang="ko-KR" altLang="en-US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명 → </a:t>
            </a:r>
            <a:r>
              <a:rPr lang="en-US" altLang="ko-KR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556</a:t>
            </a:r>
            <a:r>
              <a:rPr lang="ko-KR" altLang="en-US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명 </a:t>
            </a:r>
            <a:r>
              <a:rPr lang="en-US" altLang="ko-KR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(21</a:t>
            </a:r>
            <a:r>
              <a:rPr lang="ko-KR" altLang="en-US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명 감소</a:t>
            </a:r>
            <a:r>
              <a:rPr lang="en-US" altLang="ko-KR" sz="16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algn="l"/>
            <a:endParaRPr lang="en-US" sz="1600" b="0" dirty="0">
              <a:solidFill>
                <a:srgbClr val="FFFF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Y신명조"/>
              </a:rPr>
              <a:t>5 / 9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D58BB72-A8E8-92C3-FFCB-E05F23F0E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502" y="3349722"/>
            <a:ext cx="1984516" cy="140935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FD69E9A-BD56-B1AD-2980-D12C49239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921" y="1829036"/>
            <a:ext cx="1705679" cy="1463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우울증 요인 분석</a:t>
            </a:r>
            <a:endParaRPr sz="32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430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ko-KR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오즈비</a:t>
            </a:r>
            <a:r>
              <a:rPr lang="ko-KR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(OR) 해석: 해당 요인이 1 표준편차(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SD</a:t>
            </a:r>
            <a:r>
              <a:rPr lang="ko-KR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) 증가할 때(또는 해당 요인이 있을 때, 없는 집단 대비) 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우울증에 걸릴 오즈(</a:t>
            </a:r>
            <a:r>
              <a:rPr lang="ko-KR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Odds</a:t>
            </a:r>
            <a:r>
              <a:rPr lang="ko-KR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)가 몇 배로 변하는지를 의미한다.</a:t>
            </a:r>
            <a:endParaRPr sz="1400" dirty="0">
              <a:solidFill>
                <a:srgbClr val="555555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1206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위험</a:t>
            </a:r>
            <a:r>
              <a:rPr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요인</a:t>
            </a:r>
            <a:endParaRPr dirty="0">
              <a:solidFill>
                <a:srgbClr val="E74C3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자살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생각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유무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×11.74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학업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압박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23360" y="324612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×3.05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불건전한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식습관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23360" y="384048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×2.75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32004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 </a:t>
            </a:r>
            <a:r>
              <a:rPr sz="15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재정적</a:t>
            </a:r>
            <a:r>
              <a:rPr sz="15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5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스트레스</a:t>
            </a:r>
            <a:endParaRPr sz="15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23360" y="443484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×2.20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 5시간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미만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수면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23360" y="502920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×1.41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39706"/>
            <a:ext cx="539496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dirty="0" err="1">
                <a:solidFill>
                  <a:srgbClr val="00B05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보호</a:t>
            </a:r>
            <a:r>
              <a:rPr sz="1800" dirty="0">
                <a:solidFill>
                  <a:srgbClr val="00B05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800" dirty="0" err="1">
                <a:solidFill>
                  <a:srgbClr val="00B05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요인</a:t>
            </a:r>
            <a:r>
              <a:rPr sz="1800" dirty="0">
                <a:solidFill>
                  <a:srgbClr val="00B05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나이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증가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(1 SD당)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65176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×0.59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4612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학업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만족도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(1 SD당)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24612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×0.72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40480"/>
            <a:ext cx="3200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 8시간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초과</a:t>
            </a:r>
            <a:r>
              <a:rPr sz="16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6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수면</a:t>
            </a:r>
            <a:endParaRPr sz="16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92640" y="3840480"/>
            <a:ext cx="1828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×0.77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Y신명조"/>
              </a:rPr>
              <a:t>6 /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9692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HY신명조"/>
              </a:rPr>
              <a:t>* 나이·학업 압박·재정 스트레스·학업 만족도는 표준화된 연속형 변수 → OR은 "1 표준편차(SD)당" 변화 (예: 나이 1 SD ≈ 4.9세)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430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SHAP Dependence Plot — Age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변수의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비선형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보호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효과</a:t>
            </a:r>
            <a:endParaRPr sz="32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43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로지스틱</a:t>
            </a:r>
            <a:r>
              <a:rPr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회귀가</a:t>
            </a:r>
            <a:r>
              <a:rPr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가정한</a:t>
            </a:r>
            <a:r>
              <a:rPr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단일</a:t>
            </a:r>
            <a:r>
              <a:rPr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OR(0.59)이 </a:t>
            </a:r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실제로는</a:t>
            </a:r>
            <a:r>
              <a:rPr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연령</a:t>
            </a:r>
            <a:r>
              <a:rPr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구간별로</a:t>
            </a:r>
            <a:r>
              <a:rPr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다르게</a:t>
            </a:r>
            <a:r>
              <a:rPr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작용</a:t>
            </a:r>
            <a:endParaRPr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Age vs SHAP value (test set, n≈2,000)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914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20-22세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14600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+0.05 ~ +0.10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574600"/>
            <a:ext cx="256032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00400" y="2574600"/>
            <a:ext cx="2048255" cy="20116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06440" y="2585902"/>
            <a:ext cx="6400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양의</a:t>
            </a:r>
            <a:r>
              <a:rPr sz="10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기여</a:t>
            </a:r>
            <a:endParaRPr sz="1000" dirty="0">
              <a:solidFill>
                <a:srgbClr val="E74C3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026664"/>
            <a:ext cx="914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23-26세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026664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+0.00 ~ +0.05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086664"/>
            <a:ext cx="256032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00400" y="3086664"/>
            <a:ext cx="1280160" cy="20116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3538728"/>
            <a:ext cx="914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27-28세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538728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≈ 0 (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분기점</a:t>
            </a:r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598728"/>
            <a:ext cx="256032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200400" y="3598728"/>
            <a:ext cx="768096" cy="201168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06440" y="3593250"/>
            <a:ext cx="6400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dirty="0" err="1">
                <a:solidFill>
                  <a:srgbClr val="F1C40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전환점</a:t>
            </a:r>
            <a:endParaRPr sz="1000" dirty="0">
              <a:solidFill>
                <a:srgbClr val="F1C40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914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29-32세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050791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-0.05 ~ -0.07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4110791"/>
            <a:ext cx="256032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200400" y="4110791"/>
            <a:ext cx="1024127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" y="4562856"/>
            <a:ext cx="914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33-34세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562856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-0.10 ~ -0.13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622856"/>
            <a:ext cx="256032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200400" y="4622856"/>
            <a:ext cx="1664207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60" y="5074920"/>
            <a:ext cx="914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35+세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5074920"/>
            <a:ext cx="13716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-0.15 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내외</a:t>
            </a:r>
            <a:endParaRPr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00400" y="5134920"/>
            <a:ext cx="2560320" cy="201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200400" y="5134920"/>
            <a:ext cx="2176272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10634" y="5158805"/>
            <a:ext cx="6400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최대</a:t>
            </a:r>
            <a:r>
              <a:rPr sz="100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00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보호</a:t>
            </a:r>
            <a:endParaRPr sz="1000" dirty="0">
              <a:solidFill>
                <a:srgbClr val="27AE6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675120" y="1828800"/>
            <a:ext cx="4937760" cy="4114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03720" y="1965960"/>
            <a:ext cx="45720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해석</a:t>
            </a:r>
            <a:r>
              <a:rPr sz="15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— </a:t>
            </a:r>
            <a:r>
              <a:rPr sz="15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다층</a:t>
            </a:r>
            <a:r>
              <a:rPr sz="15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5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모델의</a:t>
            </a:r>
            <a:r>
              <a:rPr sz="15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5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보완</a:t>
            </a:r>
            <a:r>
              <a:rPr sz="15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5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효과</a:t>
            </a:r>
            <a:endParaRPr sz="15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03720" y="2606040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❶  LR 오즈비 OR(Age) = 0.59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97180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     “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모든</a:t>
            </a:r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연령에서</a:t>
            </a:r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일정한</a:t>
            </a:r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 −41% 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효과”라는</a:t>
            </a:r>
            <a:endParaRPr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03720" y="329184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sz="110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선형</a:t>
            </a:r>
            <a:r>
              <a:rPr sz="11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10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가정</a:t>
            </a:r>
            <a:r>
              <a:rPr sz="11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→ Box-Tidwell </a:t>
            </a:r>
            <a:r>
              <a:rPr sz="110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검정</a:t>
            </a:r>
            <a:r>
              <a:rPr sz="11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10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위배</a:t>
            </a:r>
            <a:endParaRPr sz="1100" dirty="0">
              <a:solidFill>
                <a:srgbClr val="E74C3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03720" y="3749039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❷  SHAP: 27~28세에서 양→음 부호 전환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4114800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     35세 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이상에서</a:t>
            </a:r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보호</a:t>
            </a:r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효과</a:t>
            </a:r>
            <a:r>
              <a:rPr sz="11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1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최대</a:t>
            </a:r>
            <a:endParaRPr sz="11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903720" y="4617720"/>
            <a:ext cx="44805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995160" y="4709160"/>
            <a:ext cx="42976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데이터 기반 외부 타당성 검증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029200"/>
            <a:ext cx="42976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우울증 그룹 평균 Age: 24.9세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349240"/>
            <a:ext cx="42976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비우울증 그룹 평균 Age: 27.1세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5669280"/>
            <a:ext cx="42976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→ 두 평균 경계가 SHAP 전환점과 일치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035040"/>
            <a:ext cx="11064240" cy="4114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31520" y="6135284"/>
            <a:ext cx="10698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SHAP은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LR의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선형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가정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위배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구간에서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비선형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보호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효과를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정량적으로</a:t>
            </a:r>
            <a:r>
              <a:rPr sz="1200" dirty="0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회복시킨다</a:t>
            </a:r>
            <a:endParaRPr sz="1200" dirty="0">
              <a:solidFill>
                <a:srgbClr val="FFFF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3716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Y신명조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43000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200" b="0" dirty="0">
                <a:solidFill>
                  <a:srgbClr val="1F3A5F"/>
                </a:solidFill>
                <a:latin typeface="HY신명조"/>
              </a:rPr>
              <a:t>SHAP </a:t>
            </a:r>
            <a:r>
              <a:rPr sz="3200" b="0" dirty="0" err="1">
                <a:solidFill>
                  <a:srgbClr val="1F3A5F"/>
                </a:solidFill>
                <a:latin typeface="HY신명조"/>
              </a:rPr>
              <a:t>변수</a:t>
            </a:r>
            <a:r>
              <a:rPr sz="3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3200" b="0" dirty="0" err="1">
                <a:solidFill>
                  <a:srgbClr val="1F3A5F"/>
                </a:solidFill>
                <a:latin typeface="HY신명조"/>
              </a:rPr>
              <a:t>해석</a:t>
            </a:r>
            <a:r>
              <a:rPr lang="en-US" sz="320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3200" b="0" dirty="0">
                <a:solidFill>
                  <a:srgbClr val="1F3A5F"/>
                </a:solidFill>
                <a:latin typeface="HY신명조"/>
              </a:rPr>
              <a:t>— 그 외 </a:t>
            </a:r>
            <a:r>
              <a:rPr sz="3200" b="0" dirty="0" err="1">
                <a:solidFill>
                  <a:srgbClr val="1F3A5F"/>
                </a:solidFill>
                <a:latin typeface="HY신명조"/>
              </a:rPr>
              <a:t>변수들과</a:t>
            </a:r>
            <a:r>
              <a:rPr sz="3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3200" b="0" dirty="0" err="1">
                <a:solidFill>
                  <a:srgbClr val="1F3A5F"/>
                </a:solidFill>
                <a:latin typeface="HY신명조"/>
              </a:rPr>
              <a:t>상호작용</a:t>
            </a:r>
            <a:r>
              <a:rPr sz="3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3200" b="0" dirty="0" err="1">
                <a:solidFill>
                  <a:srgbClr val="1F3A5F"/>
                </a:solidFill>
                <a:latin typeface="HY신명조"/>
              </a:rPr>
              <a:t>신호</a:t>
            </a:r>
            <a:endParaRPr sz="3200" b="0" dirty="0">
              <a:solidFill>
                <a:srgbClr val="1F3A5F"/>
              </a:solidFill>
              <a:latin typeface="HY신명조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55555"/>
                </a:solidFill>
                <a:latin typeface="HY신명조"/>
              </a:rPr>
              <a:t>Permutation이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놓친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변수를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SHAP이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회복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—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단일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변수가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아닌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변수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간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상호작용의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복합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작용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가능성</a:t>
            </a:r>
            <a:endParaRPr sz="140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943600" cy="411480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 err="1">
                <a:solidFill>
                  <a:srgbClr val="1F3A5F"/>
                </a:solidFill>
                <a:latin typeface="HY신명조"/>
              </a:rPr>
              <a:t>변수별</a:t>
            </a:r>
            <a:r>
              <a:rPr sz="1600" b="0" dirty="0">
                <a:solidFill>
                  <a:srgbClr val="1F3A5F"/>
                </a:solidFill>
                <a:latin typeface="HY신명조"/>
              </a:rPr>
              <a:t> SHAP </a:t>
            </a:r>
            <a:r>
              <a:rPr sz="1600" b="0" dirty="0" err="1">
                <a:solidFill>
                  <a:srgbClr val="1F3A5F"/>
                </a:solidFill>
                <a:latin typeface="HY신명조"/>
              </a:rPr>
              <a:t>기여</a:t>
            </a:r>
            <a:r>
              <a:rPr sz="16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600" b="0" dirty="0" err="1">
                <a:solidFill>
                  <a:srgbClr val="1F3A5F"/>
                </a:solidFill>
                <a:latin typeface="HY신명조"/>
              </a:rPr>
              <a:t>방향</a:t>
            </a:r>
            <a:r>
              <a:rPr sz="1600" b="0" dirty="0">
                <a:solidFill>
                  <a:srgbClr val="1F3A5F"/>
                </a:solidFill>
                <a:latin typeface="HY신명조"/>
              </a:rPr>
              <a:t> (test 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55555"/>
                </a:solidFill>
                <a:latin typeface="HY신명조"/>
              </a:rPr>
              <a:t>• 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불건전한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식습관</a:t>
            </a:r>
            <a:endParaRPr sz="140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248716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555555"/>
                </a:solidFill>
                <a:latin typeface="HY신명조"/>
              </a:rPr>
              <a:t>양(+) · </a:t>
            </a:r>
            <a:r>
              <a:rPr sz="1250" b="0" dirty="0" err="1">
                <a:solidFill>
                  <a:srgbClr val="555555"/>
                </a:solidFill>
                <a:latin typeface="HY신명조"/>
              </a:rPr>
              <a:t>중간</a:t>
            </a:r>
            <a:r>
              <a:rPr sz="12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250" b="0" dirty="0" err="1">
                <a:solidFill>
                  <a:srgbClr val="555555"/>
                </a:solidFill>
                <a:latin typeface="HY신명조"/>
              </a:rPr>
              <a:t>강도</a:t>
            </a:r>
            <a:endParaRPr sz="125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83480" y="24871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dirty="0" err="1">
                <a:solidFill>
                  <a:srgbClr val="E74C3C"/>
                </a:solidFill>
                <a:latin typeface="HY신명조"/>
              </a:rPr>
              <a:t>위험</a:t>
            </a:r>
            <a:endParaRPr sz="1300" b="0" dirty="0">
              <a:solidFill>
                <a:srgbClr val="E74C3C"/>
              </a:solidFill>
              <a:latin typeface="HY신명조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0358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55555"/>
                </a:solidFill>
                <a:latin typeface="HY신명조"/>
              </a:rPr>
              <a:t>• 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수면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부족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(&lt;5h)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03580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555555"/>
                </a:solidFill>
                <a:latin typeface="HY신명조"/>
              </a:rPr>
              <a:t>+0.04 </a:t>
            </a:r>
            <a:r>
              <a:rPr sz="1250" b="0" dirty="0" err="1">
                <a:solidFill>
                  <a:srgbClr val="555555"/>
                </a:solidFill>
                <a:latin typeface="HY신명조"/>
              </a:rPr>
              <a:t>내외</a:t>
            </a:r>
            <a:endParaRPr sz="125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83480" y="303580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dirty="0" err="1">
                <a:solidFill>
                  <a:srgbClr val="E74C3C"/>
                </a:solidFill>
                <a:latin typeface="HY신명조"/>
              </a:rPr>
              <a:t>위험</a:t>
            </a:r>
            <a:endParaRPr sz="1300" b="0" dirty="0">
              <a:solidFill>
                <a:srgbClr val="E74C3C"/>
              </a:solidFill>
              <a:latin typeface="HY신명조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358444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55555"/>
                </a:solidFill>
                <a:latin typeface="HY신명조"/>
              </a:rPr>
              <a:t>• 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충분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수면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(&gt;8h)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8444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555555"/>
                </a:solidFill>
                <a:latin typeface="HY신명조"/>
              </a:rPr>
              <a:t>−0.03 ~ −0.05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5844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dirty="0" err="1">
                <a:solidFill>
                  <a:srgbClr val="27AE60"/>
                </a:solidFill>
                <a:latin typeface="HY신명조"/>
              </a:rPr>
              <a:t>보호</a:t>
            </a:r>
            <a:endParaRPr sz="1300" b="0" dirty="0">
              <a:solidFill>
                <a:srgbClr val="27AE60"/>
              </a:solidFill>
              <a:latin typeface="HY신명조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133087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HY신명조"/>
              </a:rPr>
              <a:t>•  정신질환 가족력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33087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555555"/>
                </a:solidFill>
                <a:latin typeface="HY신명조"/>
              </a:rPr>
              <a:t>+0.005 ~ +0.015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133087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dirty="0" err="1">
                <a:solidFill>
                  <a:srgbClr val="E74C3C"/>
                </a:solidFill>
                <a:latin typeface="HY신명조"/>
              </a:rPr>
              <a:t>약한</a:t>
            </a:r>
            <a:r>
              <a:rPr sz="1300" b="0" dirty="0">
                <a:solidFill>
                  <a:srgbClr val="E74C3C"/>
                </a:solidFill>
                <a:latin typeface="HY신명조"/>
              </a:rPr>
              <a:t> </a:t>
            </a:r>
            <a:r>
              <a:rPr sz="1300" b="0" dirty="0" err="1">
                <a:solidFill>
                  <a:srgbClr val="E74C3C"/>
                </a:solidFill>
                <a:latin typeface="HY신명조"/>
              </a:rPr>
              <a:t>위험</a:t>
            </a:r>
            <a:endParaRPr sz="1300" b="0" dirty="0">
              <a:solidFill>
                <a:srgbClr val="E74C3C"/>
              </a:solidFill>
              <a:latin typeface="HY신명조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468172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55555"/>
                </a:solidFill>
                <a:latin typeface="HY신명조"/>
              </a:rPr>
              <a:t>• 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학업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만족도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 (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낮음</a:t>
            </a:r>
            <a:r>
              <a:rPr sz="1400" b="0" dirty="0">
                <a:solidFill>
                  <a:srgbClr val="555555"/>
                </a:solidFill>
                <a:latin typeface="HY신명조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68172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dirty="0" err="1">
                <a:solidFill>
                  <a:srgbClr val="555555"/>
                </a:solidFill>
                <a:latin typeface="HY신명조"/>
              </a:rPr>
              <a:t>소폭</a:t>
            </a:r>
            <a:r>
              <a:rPr sz="1250" b="0" dirty="0">
                <a:solidFill>
                  <a:srgbClr val="555555"/>
                </a:solidFill>
                <a:latin typeface="HY신명조"/>
              </a:rPr>
              <a:t> 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6817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dirty="0" err="1">
                <a:solidFill>
                  <a:srgbClr val="E74C3C"/>
                </a:solidFill>
                <a:latin typeface="HY신명조"/>
              </a:rPr>
              <a:t>약한</a:t>
            </a:r>
            <a:r>
              <a:rPr sz="1300" b="0" dirty="0">
                <a:solidFill>
                  <a:srgbClr val="E74C3C"/>
                </a:solidFill>
                <a:latin typeface="HY신명조"/>
              </a:rPr>
              <a:t> </a:t>
            </a:r>
            <a:r>
              <a:rPr sz="1300" b="0" dirty="0" err="1">
                <a:solidFill>
                  <a:srgbClr val="E74C3C"/>
                </a:solidFill>
                <a:latin typeface="HY신명조"/>
              </a:rPr>
              <a:t>위험</a:t>
            </a:r>
            <a:endParaRPr sz="1300" b="0" dirty="0">
              <a:solidFill>
                <a:srgbClr val="E74C3C"/>
              </a:solidFill>
              <a:latin typeface="HY신명조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2303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555555"/>
                </a:solidFill>
                <a:latin typeface="HY신명조"/>
              </a:rPr>
              <a:t>•  </a:t>
            </a:r>
            <a:r>
              <a:rPr sz="1400" b="0" dirty="0" err="1">
                <a:solidFill>
                  <a:srgbClr val="555555"/>
                </a:solidFill>
                <a:latin typeface="HY신명조"/>
              </a:rPr>
              <a:t>CGPA·학위·성별</a:t>
            </a:r>
            <a:endParaRPr sz="140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0" y="523036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555555"/>
                </a:solidFill>
                <a:latin typeface="HY신명조"/>
              </a:rPr>
              <a:t>≈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23036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dirty="0" err="1">
                <a:solidFill>
                  <a:srgbClr val="555555"/>
                </a:solidFill>
                <a:latin typeface="HY신명조"/>
              </a:rPr>
              <a:t>노이즈</a:t>
            </a:r>
            <a:endParaRPr sz="130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5614416"/>
            <a:ext cx="55778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555555"/>
                </a:solidFill>
                <a:latin typeface="HY신명조"/>
              </a:rPr>
              <a:t>* </a:t>
            </a:r>
            <a:r>
              <a:rPr sz="1100" b="0" dirty="0" err="1">
                <a:solidFill>
                  <a:srgbClr val="555555"/>
                </a:solidFill>
                <a:latin typeface="HY신명조"/>
              </a:rPr>
              <a:t>수면·가족력은</a:t>
            </a:r>
            <a:r>
              <a:rPr sz="11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HY신명조"/>
              </a:rPr>
              <a:t>Permutation에서</a:t>
            </a:r>
            <a:r>
              <a:rPr sz="1100" b="0" dirty="0">
                <a:solidFill>
                  <a:srgbClr val="555555"/>
                </a:solidFill>
                <a:latin typeface="HY신명조"/>
              </a:rPr>
              <a:t> ≈0이었으나 </a:t>
            </a:r>
            <a:r>
              <a:rPr sz="1100" b="0" dirty="0" err="1">
                <a:solidFill>
                  <a:srgbClr val="555555"/>
                </a:solidFill>
                <a:latin typeface="HY신명조"/>
              </a:rPr>
              <a:t>SHAP이</a:t>
            </a:r>
            <a:r>
              <a:rPr sz="11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HY신명조"/>
              </a:rPr>
              <a:t>기여</a:t>
            </a:r>
            <a:r>
              <a:rPr sz="11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HY신명조"/>
              </a:rPr>
              <a:t>패턴을</a:t>
            </a:r>
            <a:r>
              <a:rPr sz="110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100" b="0" dirty="0" err="1">
                <a:solidFill>
                  <a:srgbClr val="555555"/>
                </a:solidFill>
                <a:latin typeface="HY신명조"/>
              </a:rPr>
              <a:t>회복</a:t>
            </a:r>
            <a:endParaRPr sz="110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675120" y="1828800"/>
            <a:ext cx="4937760" cy="4114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03720" y="1965960"/>
            <a:ext cx="45720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 err="1">
                <a:solidFill>
                  <a:srgbClr val="1F3A5F"/>
                </a:solidFill>
                <a:latin typeface="HY신명조"/>
              </a:rPr>
              <a:t>해석</a:t>
            </a:r>
            <a:r>
              <a:rPr sz="1500" b="0" dirty="0">
                <a:solidFill>
                  <a:srgbClr val="1F3A5F"/>
                </a:solidFill>
                <a:latin typeface="HY신명조"/>
              </a:rPr>
              <a:t> — </a:t>
            </a:r>
            <a:r>
              <a:rPr sz="1500" b="0" dirty="0" err="1">
                <a:solidFill>
                  <a:srgbClr val="1F3A5F"/>
                </a:solidFill>
                <a:latin typeface="HY신명조"/>
              </a:rPr>
              <a:t>변수</a:t>
            </a:r>
            <a:r>
              <a:rPr sz="1500" b="0" dirty="0">
                <a:solidFill>
                  <a:srgbClr val="1F3A5F"/>
                </a:solidFill>
                <a:latin typeface="HY신명조"/>
              </a:rPr>
              <a:t> 간 </a:t>
            </a:r>
            <a:r>
              <a:rPr sz="1500" b="0" dirty="0" err="1">
                <a:solidFill>
                  <a:srgbClr val="1F3A5F"/>
                </a:solidFill>
                <a:latin typeface="HY신명조"/>
              </a:rPr>
              <a:t>상호작용이</a:t>
            </a:r>
            <a:r>
              <a:rPr sz="15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500" b="0" dirty="0" err="1">
                <a:solidFill>
                  <a:srgbClr val="1F3A5F"/>
                </a:solidFill>
                <a:latin typeface="HY신명조"/>
              </a:rPr>
              <a:t>원인일</a:t>
            </a:r>
            <a:r>
              <a:rPr sz="15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500" b="0" dirty="0" err="1">
                <a:solidFill>
                  <a:srgbClr val="1F3A5F"/>
                </a:solidFill>
                <a:latin typeface="HY신명조"/>
              </a:rPr>
              <a:t>가능성</a:t>
            </a:r>
            <a:endParaRPr sz="1500" b="0" dirty="0">
              <a:solidFill>
                <a:srgbClr val="1F3A5F"/>
              </a:solidFill>
              <a:latin typeface="HY신명조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03720" y="24323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F3A5F"/>
                </a:solidFill>
                <a:latin typeface="HY신명조"/>
              </a:rPr>
              <a:t>❶ 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식습관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×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학업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압박</a:t>
            </a:r>
            <a:endParaRPr sz="1200" b="0" dirty="0">
              <a:solidFill>
                <a:srgbClr val="1F3A5F"/>
              </a:solidFill>
              <a:latin typeface="HY신명조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03720" y="27523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555555"/>
                </a:solidFill>
                <a:latin typeface="HY신명조"/>
              </a:rPr>
              <a:t>     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동일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식습관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범주에서도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학업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스트레스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수준에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따라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SHAP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분산이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갈림</a:t>
            </a:r>
            <a:endParaRPr sz="105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03720" y="32095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F3A5F"/>
                </a:solidFill>
                <a:latin typeface="HY신명조"/>
              </a:rPr>
              <a:t>❷ 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수면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부족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×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학업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스트레스·자살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생각</a:t>
            </a:r>
            <a:endParaRPr sz="1200" b="0" dirty="0">
              <a:solidFill>
                <a:srgbClr val="1F3A5F"/>
              </a:solidFill>
              <a:latin typeface="HY신명조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03720" y="352958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555555"/>
                </a:solidFill>
                <a:latin typeface="HY신명조"/>
              </a:rPr>
              <a:t>     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결합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시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위험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증폭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가능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—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단독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효과만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보는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Permutation은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과소평가</a:t>
            </a:r>
            <a:endParaRPr sz="105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03720" y="398678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F3A5F"/>
                </a:solidFill>
                <a:latin typeface="HY신명조"/>
              </a:rPr>
              <a:t>❸ 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가족력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×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학업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만족도</a:t>
            </a:r>
            <a:endParaRPr sz="1200" b="0" dirty="0">
              <a:solidFill>
                <a:srgbClr val="1F3A5F"/>
              </a:solidFill>
              <a:latin typeface="HY신명조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03720" y="430682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555555"/>
                </a:solidFill>
                <a:latin typeface="HY신명조"/>
              </a:rPr>
              <a:t>     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만족도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수준에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따라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가족력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SHAP이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미세하게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갈림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→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약한</a:t>
            </a:r>
            <a:r>
              <a:rPr sz="1050" b="0" dirty="0">
                <a:solidFill>
                  <a:srgbClr val="555555"/>
                </a:solidFill>
                <a:latin typeface="HY신명조"/>
              </a:rPr>
              <a:t> </a:t>
            </a:r>
            <a:r>
              <a:rPr sz="1050" b="0" dirty="0" err="1">
                <a:solidFill>
                  <a:srgbClr val="555555"/>
                </a:solidFill>
                <a:latin typeface="HY신명조"/>
              </a:rPr>
              <a:t>상호작용</a:t>
            </a:r>
            <a:endParaRPr sz="1050" b="0" dirty="0">
              <a:solidFill>
                <a:srgbClr val="555555"/>
              </a:solidFill>
              <a:latin typeface="HY신명조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03720" y="476402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1F3A5F"/>
                </a:solidFill>
                <a:latin typeface="HY신명조"/>
              </a:rPr>
              <a:t>❹  CGPA —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정보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중복형</a:t>
            </a:r>
            <a:r>
              <a:rPr sz="1200" b="0" dirty="0">
                <a:solidFill>
                  <a:srgbClr val="1F3A5F"/>
                </a:solidFill>
                <a:latin typeface="HY신명조"/>
              </a:rPr>
              <a:t> </a:t>
            </a:r>
            <a:r>
              <a:rPr sz="1200" b="0" dirty="0" err="1">
                <a:solidFill>
                  <a:srgbClr val="1F3A5F"/>
                </a:solidFill>
                <a:latin typeface="HY신명조"/>
              </a:rPr>
              <a:t>노이즈</a:t>
            </a:r>
            <a:endParaRPr sz="1200" b="0" dirty="0">
              <a:solidFill>
                <a:srgbClr val="1F3A5F"/>
              </a:solidFill>
              <a:latin typeface="HY신명조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03720" y="508406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HY신명조"/>
              </a:rPr>
              <a:t>      학업 압박·공부 시간에 정보가 흡수됨 (Permutation −0.002)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961888"/>
            <a:ext cx="11064240" cy="475488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601675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HY신명조"/>
              </a:rPr>
              <a:t>단일 변수의 독립 효과가 아닌, 여러 변수 간 상호작용의 복합 작용이 우울 위험의 원인일 가능성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HY신명조"/>
              </a:rPr>
              <a:t>→ 단, 횡단(단면) 데이터이므로 인과가 아닌 통계적 연관(association)으로 해석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Y신명조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3097" y="521772"/>
            <a:ext cx="114300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ko-KR" alt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결론 </a:t>
            </a:r>
            <a:r>
              <a:rPr lang="en-US" altLang="ko-KR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임상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1차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스크리닝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도구로의</a:t>
            </a:r>
            <a:r>
              <a:rPr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3200" dirty="0" err="1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활용</a:t>
            </a:r>
            <a:r>
              <a:rPr 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32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가능성 확인</a:t>
            </a:r>
            <a:endParaRPr lang="en-US" sz="32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로지스틱 </a:t>
            </a:r>
            <a:r>
              <a:rPr lang="en-US" altLang="ko-KR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차 분류</a:t>
            </a:r>
            <a:r>
              <a:rPr lang="en-US" altLang="ko-KR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SHAP</a:t>
            </a:r>
            <a:r>
              <a:rPr lang="ko-KR" altLang="en-US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기반 상호작용 항 해석</a:t>
            </a:r>
            <a:r>
              <a:rPr lang="en-US" altLang="ko-KR" sz="1600" dirty="0">
                <a:solidFill>
                  <a:srgbClr val="1F3A5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sz="1600" dirty="0">
              <a:solidFill>
                <a:srgbClr val="1F3A5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114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12064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핵심</a:t>
            </a:r>
            <a:r>
              <a:rPr sz="1500" dirty="0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500" dirty="0" err="1">
                <a:solidFill>
                  <a:srgbClr val="27AE6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성과</a:t>
            </a:r>
            <a:endParaRPr sz="1500" dirty="0">
              <a:solidFill>
                <a:srgbClr val="27AE6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5120640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①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우울증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환자의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94%를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식별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②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놓친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환자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21명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감소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(577→556)</a:t>
            </a: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③ 4가지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해석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방법이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일관된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결론에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수렴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  (LR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오즈비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/ FI / Permutation / SHAP)</a:t>
            </a: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④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단순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모델로는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보이지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않던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비선형·상호작용·노이즈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변수를</a:t>
            </a:r>
            <a:r>
              <a:rPr 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SHAP으로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식별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4114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dirty="0" err="1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한계</a:t>
            </a:r>
            <a:r>
              <a:rPr sz="15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&amp; </a:t>
            </a:r>
            <a:r>
              <a:rPr lang="ko-KR" altLang="en-US" sz="1500" dirty="0">
                <a:solidFill>
                  <a:srgbClr val="E74C3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후속 연구</a:t>
            </a:r>
            <a:endParaRPr sz="1500" dirty="0">
              <a:solidFill>
                <a:srgbClr val="E74C3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5029200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인도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학생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→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다문화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검증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필요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한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시점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데이터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→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인과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관계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불명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자가보고식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→ DSM-5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임상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진단으로</a:t>
            </a:r>
            <a:r>
              <a:rPr 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재검증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필요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의료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전문가의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판단을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보조하는</a:t>
            </a:r>
            <a:r>
              <a:rPr 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1차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스크리닝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도구로만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활용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algn="l"/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•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최종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진단·치료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결정은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반드시</a:t>
            </a:r>
            <a:r>
              <a:rPr 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임상의가</a:t>
            </a:r>
            <a:r>
              <a:rPr sz="1400" b="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sz="1400" b="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수행</a:t>
            </a:r>
            <a:endParaRPr sz="1400" b="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8957F7-0617-A3FA-66A8-8DF80D009DBE}"/>
              </a:ext>
            </a:extLst>
          </p:cNvPr>
          <p:cNvSpPr txBox="1"/>
          <p:nvPr/>
        </p:nvSpPr>
        <p:spPr>
          <a:xfrm>
            <a:off x="10515600" y="6446520"/>
            <a:ext cx="13716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Y신명조"/>
              </a:rP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4970-9162-6D4E-97BA-D496064A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FAF043-4DD6-B74A-962D-F65469DE225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46E93B-A53F-FCE5-92F6-862407AE7489}"/>
              </a:ext>
            </a:extLst>
          </p:cNvPr>
          <p:cNvSpPr txBox="1"/>
          <p:nvPr/>
        </p:nvSpPr>
        <p:spPr>
          <a:xfrm>
            <a:off x="2025766" y="2654927"/>
            <a:ext cx="8140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 | E.O.D  |   </a:t>
            </a:r>
          </a:p>
          <a:p>
            <a:pPr algn="ctr"/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github.com/mynseong02/26ML_TERM_PROJECT</a:t>
            </a:r>
          </a:p>
        </p:txBody>
      </p:sp>
    </p:spTree>
    <p:extLst>
      <p:ext uri="{BB962C8B-B14F-4D97-AF65-F5344CB8AC3E}">
        <p14:creationId xmlns:p14="http://schemas.microsoft.com/office/powerpoint/2010/main" val="3301726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1200</Words>
  <Application>Microsoft Office PowerPoint</Application>
  <PresentationFormat>와이드스크린</PresentationFormat>
  <Paragraphs>184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HY신명조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김민성</cp:lastModifiedBy>
  <cp:revision>3</cp:revision>
  <dcterms:created xsi:type="dcterms:W3CDTF">2013-01-27T09:14:16Z</dcterms:created>
  <dcterms:modified xsi:type="dcterms:W3CDTF">2026-05-28T10:05:00Z</dcterms:modified>
  <cp:category/>
</cp:coreProperties>
</file>